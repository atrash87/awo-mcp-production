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2" r:id="rId3"/>
    <p:sldId id="277" r:id="rId4"/>
    <p:sldId id="276" r:id="rId5"/>
    <p:sldId id="273" r:id="rId6"/>
    <p:sldId id="274" r:id="rId7"/>
    <p:sldId id="258" r:id="rId8"/>
    <p:sldId id="259" r:id="rId9"/>
    <p:sldId id="275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93958" autoAdjust="0"/>
  </p:normalViewPr>
  <p:slideViewPr>
    <p:cSldViewPr snapToGrid="0" snapToObjects="1">
      <p:cViewPr>
        <p:scale>
          <a:sx n="113" d="100"/>
          <a:sy n="113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Data Understanding</c:v>
                </c:pt>
                <c:pt idx="1">
                  <c:v>DataLoader</c:v>
                </c:pt>
                <c:pt idx="2">
                  <c:v>DataRepository</c:v>
                </c:pt>
                <c:pt idx="3">
                  <c:v>MCP Server</c:v>
                </c:pt>
                <c:pt idx="4">
                  <c:v>Testing</c:v>
                </c:pt>
                <c:pt idx="5">
                  <c:v>Documentation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10</c:v>
                </c:pt>
                <c:pt idx="2">
                  <c:v>30</c:v>
                </c:pt>
                <c:pt idx="3">
                  <c:v>25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84-4244-BAC5-7E4902542F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713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2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62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88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4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5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46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" y="16230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141" y="1859661"/>
            <a:ext cx="578358" cy="578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80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AWO MCP SERVER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Social Service Data Accessible to AI Assistants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Presentation  •  Model Context Protocol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in the Bigger Picture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final interaction layer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the data pipeline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Places, OSM,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internal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761488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61488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74336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336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74336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86016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87184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87184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tools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98864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400032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00032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87184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scope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109960" cy="1737360"/>
          </a:xfrm>
          <a:prstGeom prst="roundRect">
            <a:avLst>
              <a:gd name="adj" fmla="val 6316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does not clean, merge, or analyze data.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tasks stay in the existing data pipeline. MCP simply provides a standardized, controlled way for AI applications to access data that's already prepared.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Facility Data Assistant — MCP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5077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in the Bigger Picture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final interaction layer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the data pipeline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Places, OSM,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internal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761488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61488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74336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336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74336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86016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87184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87184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tools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98864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400032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00032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87184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scope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109960" cy="1737360"/>
          </a:xfrm>
          <a:prstGeom prst="roundRect">
            <a:avLst>
              <a:gd name="adj" fmla="val 6316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does not clean, merge, or analyze data.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tasks stay in the existing data pipeline. MCP simply provides a standardized, controlled way for AI applications to access data that's already prepared.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Facility Data Assistant — MCP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0911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in the Bigger Picture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final interaction layer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the data pipeline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Places, OSM,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internal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761488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61488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74336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336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74336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86016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87184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87184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tools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98864" y="27889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400032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00032" y="2999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87184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scope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109960" cy="1737360"/>
          </a:xfrm>
          <a:prstGeom prst="roundRect">
            <a:avLst>
              <a:gd name="adj" fmla="val 6316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does not clean, merge, or analyze data.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tasks stay in the existing data pipeline. MCP simply provides a standardized, controlled way for AI applications to access data that's already prepared.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Facility Data Assistant — MCP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6038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AWO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pipeline that already solves the hard problem of building a high-quality facility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301752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AWO websites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7914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extraction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25780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17720" y="3017520"/>
            <a:ext cx="3017520" cy="0"/>
          </a:xfrm>
          <a:prstGeom prst="line">
            <a:avLst/>
          </a:prstGeom>
          <a:noFill/>
          <a:ln w="12700">
            <a:solidFill>
              <a:srgbClr val="3E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names &amp; addresses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772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fields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17720" y="47914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merging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0956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13816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905256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12480" y="3017520"/>
            <a:ext cx="301752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facility dataset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mapping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 (local or AWS S3)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storage: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orchestrated through scrape.py — scraping, normalization, and deduplication run in sequence, but each stage can also run independently. Storage is abstracted via CloudStorageManager, so the same logic runs against local files or AWS S3.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8804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MCP Solve?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not a replacement for the existing pipeline — it solves a different problem entirely.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60020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data quality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425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duplicates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9926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high-quality datasets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726948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data access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how people and AI systems access and interact with that 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acting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standardized interface between AI assistants and AWO's existing data sources and software.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6456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MCP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one standard way for AI to use tools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971800" y="1463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18" y="160705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91840" y="2487168"/>
            <a:ext cx="0" cy="393192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377440" y="2880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2880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Protocol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3291840"/>
            <a:ext cx="0" cy="41148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948940" y="381762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/home/claude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245" y="3971925"/>
            <a:ext cx="377190" cy="37719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91840" y="4480560"/>
            <a:ext cx="0" cy="7772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73252" y="52578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389888" y="5376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icons/csv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299" y="5463083"/>
            <a:ext cx="211226" cy="2112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" y="58064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91840" y="4480560"/>
            <a:ext cx="0" cy="7772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2583180" y="52578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099816" y="5376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227" y="5463083"/>
            <a:ext cx="211226" cy="211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491740" y="58064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Operations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4480560"/>
            <a:ext cx="1709928" cy="7772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4293108" y="52578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9744" y="5376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6155" y="5463083"/>
            <a:ext cx="211226" cy="2112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01668" y="58064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858000" y="1691640"/>
            <a:ext cx="4754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713232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exchange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132320" y="22860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many facilities in Berlin?”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 </a:t>
            </a: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MCP tool → returns answer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132320" y="3246120"/>
            <a:ext cx="4206240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132320" y="3383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know the data format — it just calls the right tool and gets a result back.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858000" y="425196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2A65A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17804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178040" y="470916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doesn't need to know the data format. It just uses MCP tools.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14"/>
          <p:cNvSpPr/>
          <p:nvPr/>
        </p:nvSpPr>
        <p:spPr>
          <a:xfrm flipH="1">
            <a:off x="1773936" y="4480560"/>
            <a:ext cx="1509370" cy="690829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286000" y="4553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Data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CSV datasets from AWO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0802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91" y="22139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34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einrichtung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8130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91747" y="18745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0802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icons/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131" y="221399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834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338328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38130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8745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8040" y="20802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csv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771" y="221399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834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621792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angebot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55080" y="38130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service catalogue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52560" y="18745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12680" y="20802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6411" y="221399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2834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9052560" y="3474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traeger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89720" y="38130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/ organizations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70916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91540" y="5079492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0" name="Image 4" descr="/home/claude/icons/ale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697" y="5192649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864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discovery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600200" y="5166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the schema represents reality — always inspect the data before designing relationships.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 </a:t>
            </a:r>
            <a:r>
              <a:rPr lang="en-US" sz="320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layers, seen as a division of labor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9431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271" y="20768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3401568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tool endpoints (@mcp.tool)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capabilities to </a:t>
            </a:r>
            <a:r>
              <a:rPr lang="en-US" sz="10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of results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30175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274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49834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AI a stable, discoverable interface — and nothing more.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3400" y="17373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29300" y="19431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031" y="2076831"/>
            <a:ext cx="326898" cy="3268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DataRepository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108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617720" y="3401568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filters, joins across datasets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completeness / statistics logic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 resolution (address, provider lookups)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17720" y="4617720"/>
            <a:ext cx="30175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7720" y="47274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17720" y="49834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judgment call about the data lives in one testable place </a:t>
            </a:r>
            <a:r>
              <a:rPr lang="en-US" sz="10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MCP.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138160" y="17373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624060" y="19431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2" descr="/home/claude/icons/csv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791" y="2076831"/>
            <a:ext cx="326898" cy="32689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381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DataLoader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412480" y="3108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412480" y="3401568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reading with explicit UTF-8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DataFrame conversion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no logic, no formatting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412480" y="4617720"/>
            <a:ext cx="30175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412480" y="47274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412480" y="49834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“getting the data in” from everything that happens to it afterward.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48640" y="57607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86868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MCP were ever swapped for a REST API, only the Server layer would change </a:t>
            </a:r>
            <a:r>
              <a:rPr lang="en-US" sz="115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and Loader wouldn't move.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1642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Relationships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connects to what — and what doesn't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154680" y="26974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5468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einrichtung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5257800" y="1920240"/>
            <a:ext cx="1508760" cy="1170432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66560" y="16002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600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19842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schema:address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800" y="3108960"/>
            <a:ext cx="150876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0" y="27889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traeger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31729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schema:parentOrganization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57800" y="3108960"/>
            <a:ext cx="1554480" cy="1371600"/>
          </a:xfrm>
          <a:prstGeom prst="line">
            <a:avLst/>
          </a:prstGeom>
          <a:noFill/>
          <a:ln w="28575">
            <a:solidFill>
              <a:srgbClr val="F2A65A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41605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2A65A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4590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— not a link!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5285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angebot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05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structured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5257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schema:availableService contains free-text descriptions, not IRI references to angebot. These are separate datasets.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each with a single job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1906524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017" y="2019681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56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Client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21671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ChatGPT, MCP Inspector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2532888"/>
            <a:ext cx="0" cy="16916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14400" y="2702052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165860" y="28254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017" y="2938653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27752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83080" y="30861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tools exposed via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wrapper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46320" y="3451860"/>
            <a:ext cx="0" cy="16916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914400" y="3621024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65860" y="37444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017" y="3857625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DataRepository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83080" y="40050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joins, statistics, data quality </a:t>
            </a:r>
            <a:r>
              <a:rPr lang="en-US" sz="105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+ logic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46320" y="4370832"/>
            <a:ext cx="0" cy="16916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14400" y="4539996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1658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icons/csv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017" y="4776597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46131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DataLoader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783080" y="492404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loading, UTF-8 handling, schema parsing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846320" y="5289804"/>
            <a:ext cx="0" cy="16916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14400" y="5458968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165860" y="5582412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0" name="Image 4" descr="/home/claude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017" y="5695569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783080" y="5532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CSV Files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783080" y="584301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 • adresse • angebot • traeger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144000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layers matter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144000" y="21488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DataLoader: just loads data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DataRepository: access + business logic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Server: exposes capabilities only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MCP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per capability </a:t>
            </a:r>
            <a:r>
              <a:rPr lang="en-US" sz="1500" i="1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in, structured answers 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6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count_facilities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AWO facilities in Berlin?”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56432" y="17830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517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search_facilities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93592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 all facilities in Hamburg”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64224" y="17830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15784" y="19659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228" y="2089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6517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get_facility_details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501384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Drehscheibe Kinder”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272016" y="17830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23576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csv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020" y="20894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26517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search_services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409176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addiction counseling services”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00200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3644" y="43296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892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compare_facilities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5800" y="5349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these two facilities”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56432" y="40233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07992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icons/bra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436" y="43296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66160" y="4892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detect_duplicates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593592" y="5349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there duplicate entries?”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364224" y="40233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15784" y="42062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6" name="Image 6" descr="/home/claude/icons/checkcirc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9228" y="4329684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73952" y="4892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check_completeness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501384" y="5349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fields are incomplete?”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272016" y="40233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323576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icons/char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7020" y="4329684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81744" y="4892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generate_statistics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9409176" y="5349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data statistics”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Details </a:t>
            </a:r>
            <a:r>
              <a:rPr lang="en-US" sz="320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Query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facilities and services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99567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count_facilities(city: str) → int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57860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many facilities are in Berlin?”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count_facilities("Berlin")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199567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search_facilities(city: str) → list[dict]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37960" y="246888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257860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“List facilities in Berlin”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search_facilities("Berlin")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[{name, street, postal_code, ...}]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4190238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get_facility_details(name: str) → list[dict]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77240" y="466344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" y="477316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“Tell me about Drehscheibe Kinder”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get_facility_details("Drehscheibe Kinder")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record: address, provider, services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087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icons/csv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4190238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search_services(query: str) → list[dict]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37960" y="466344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37960" y="477316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“Find addiction counseling services”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search_services("Suchtberatung")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[{name, category, audience}]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Details </a:t>
            </a:r>
            <a:r>
              <a:rPr lang="en-US" sz="320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facilities and auditing the dataset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99567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compare_facilities(f1: str, f2: str) → dict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57860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“Compare these two facilities”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compare_facilities("Drehscheibe", "Kinderhilfe")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records, side by side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icons/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199567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detect_duplicates() → dict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37960" y="246888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257860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“Are there duplicate entries?”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detect_duplicates()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 of identical rows + counts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icons/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4190238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check_completeness() → dict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77240" y="466344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" y="477316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“Which fields are incomplete?”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check_completeness()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values by column + summary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087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icon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4190238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generate_statistics() → dict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37960" y="4663440"/>
            <a:ext cx="5074920" cy="0"/>
          </a:xfrm>
          <a:prstGeom prst="line">
            <a:avLst/>
          </a:prstGeom>
          <a:noFill/>
          <a:ln w="15875">
            <a:solidFill>
              <a:srgbClr val="EEF2F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37960" y="4773168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“Give me data statistics”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generate_statistics()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</a:t>
            </a: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Sizes, city / provider / category breakdown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Demonstration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AWO facilities are in Berlin?”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73936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26" y="1864462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7373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44752" y="1975104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plain-language question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15568" y="2258568"/>
            <a:ext cx="0" cy="10972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31520" y="2368296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45059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6" y="2541118"/>
            <a:ext cx="221285" cy="2212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241401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444752" y="2651760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this needs a data lookup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115568" y="2935224"/>
            <a:ext cx="0" cy="10972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731520" y="3044952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1272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6" y="3217774"/>
            <a:ext cx="221285" cy="22128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30906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PROTOCOL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444752" y="3328416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count_facilities(city="Berlin")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115568" y="3611880"/>
            <a:ext cx="0" cy="10972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1520" y="3721608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3803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926" y="3894430"/>
            <a:ext cx="221285" cy="22128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44752" y="37673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444752" y="4005072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Repository.count_facilities("Berlin")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115568" y="4288536"/>
            <a:ext cx="0" cy="10972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31520" y="4398264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4400" y="448056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4" descr="/home/claude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26" y="4571086"/>
            <a:ext cx="221285" cy="22128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44752" y="44439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REPOSITORY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444752" y="4681728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schema:addressLocality = "Berlin"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686800" y="2194560"/>
            <a:ext cx="2971800" cy="1737360"/>
          </a:xfrm>
          <a:prstGeom prst="roundRect">
            <a:avLst>
              <a:gd name="adj" fmla="val 4211"/>
            </a:avLst>
          </a:prstGeom>
          <a:solidFill>
            <a:srgbClr val="F2A65A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921240" y="230886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5" name="Image 5" descr="/home/claude/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4397" y="2422017"/>
            <a:ext cx="276606" cy="27660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686800" y="29260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3400" dirty="0"/>
          </a:p>
        </p:txBody>
      </p:sp>
      <p:sp>
        <p:nvSpPr>
          <p:cNvPr id="37" name="Text 29"/>
          <p:cNvSpPr/>
          <p:nvPr/>
        </p:nvSpPr>
        <p:spPr>
          <a:xfrm>
            <a:off x="8686800" y="35204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in Berlin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731520" y="52578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1051560" y="525780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 AI doesn't know the answer. It executes the tool and receives the result — every time, accurately.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summary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9248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s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37" y="203796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385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DataLoader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4 CSV files with explicit UTF-8 encoding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German characters correctly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pandas DataFrames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5100" y="19248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257" y="203796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385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DataRepository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IRI-based relationships (facility → address / provider)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count, details, service search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detection, completeness, statistics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→ None normalization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4380" y="43022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37" y="441540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315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exposed tools via FastMCP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JSON-serializable results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MCP Inspector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AI cloud connection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309360" y="41148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5100" y="43022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257" y="441540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15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83680" y="49377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availableService is free text, not an IRI link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 is a separate catalogue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✓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cardinality established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choices that made the data trustworthy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UTF-8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50592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450592"/>
            <a:ext cx="4764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pd.read_csv(path, encoding="utf-8")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character </a:t>
            </a:r>
            <a:r>
              <a:rPr lang="en-US" sz="105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- </a:t>
            </a:r>
            <a:r>
              <a:rPr lang="en-US" sz="1050" i="1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Straße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StraÃŸe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9516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IRI-based relationships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2450592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2450592"/>
            <a:ext cx="4764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self.address_by_iri[iri] = {"iri": iri, ...}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lookups; resolves NaN issues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42976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Free-text preservation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828032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828032"/>
            <a:ext cx="4764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facility["service_description"] = facility["schema:availableService"]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55321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the data actually contains </a:t>
            </a:r>
            <a:r>
              <a:rPr lang="en-US" sz="105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precision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1148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42976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 normalization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4828032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4828032"/>
            <a:ext cx="4764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pd.isna(value): return None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55321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clean JSON for AI consumption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capabilities — not yet implemented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08940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03020" y="26243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8" name="Text 5"/>
          <p:cNvSpPr/>
          <p:nvPr/>
        </p:nvSpPr>
        <p:spPr>
          <a:xfrm>
            <a:off x="130302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8368" y="2971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run_scraper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3319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data collection from external sources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icons/csv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089404"/>
            <a:ext cx="301752" cy="3017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137660" y="26243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5" name="Text 11"/>
          <p:cNvSpPr/>
          <p:nvPr/>
        </p:nvSpPr>
        <p:spPr>
          <a:xfrm>
            <a:off x="413766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493008" y="2971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download_csv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20440" y="3319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filtered data as CSV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090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/home/claude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089404"/>
            <a:ext cx="301752" cy="30175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72300" y="26243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22" name="Text 17"/>
          <p:cNvSpPr/>
          <p:nvPr/>
        </p:nvSpPr>
        <p:spPr>
          <a:xfrm>
            <a:off x="697230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327648" y="2971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deployment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355080" y="3319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 actual running service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052560" y="178308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3554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/home/claude/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089404"/>
            <a:ext cx="301752" cy="30175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806940" y="26243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29" name="Text 23"/>
          <p:cNvSpPr/>
          <p:nvPr/>
        </p:nvSpPr>
        <p:spPr>
          <a:xfrm>
            <a:off x="9806940" y="2624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9162288" y="297180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Desktop integration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189720" y="3319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Claude Desktop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architecture (future)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4434840"/>
            <a:ext cx="1993392" cy="594360"/>
          </a:xfrm>
          <a:prstGeom prst="roundRect">
            <a:avLst>
              <a:gd name="adj" fmla="val 12308"/>
            </a:avLst>
          </a:prstGeom>
          <a:solidFill>
            <a:srgbClr val="EEF2F7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03504" y="443484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2542032" y="4732020"/>
            <a:ext cx="25603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2798064" y="4434840"/>
            <a:ext cx="1993392" cy="594360"/>
          </a:xfrm>
          <a:prstGeom prst="roundRect">
            <a:avLst>
              <a:gd name="adj" fmla="val 12308"/>
            </a:avLst>
          </a:prstGeom>
          <a:solidFill>
            <a:srgbClr val="EEF2F7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2852928" y="443484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run_scraper()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791456" y="4732020"/>
            <a:ext cx="25603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5047488" y="4434840"/>
            <a:ext cx="1993392" cy="594360"/>
          </a:xfrm>
          <a:prstGeom prst="roundRect">
            <a:avLst>
              <a:gd name="adj" fmla="val 12308"/>
            </a:avLst>
          </a:prstGeom>
          <a:solidFill>
            <a:srgbClr val="EEF2F7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5102352" y="443484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API / OSM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7040880" y="4732020"/>
            <a:ext cx="25603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7296912" y="4434840"/>
            <a:ext cx="1993392" cy="594360"/>
          </a:xfrm>
          <a:prstGeom prst="roundRect">
            <a:avLst>
              <a:gd name="adj" fmla="val 12308"/>
            </a:avLst>
          </a:prstGeom>
          <a:solidFill>
            <a:srgbClr val="EEF2F7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7351776" y="443484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9290304" y="4732020"/>
            <a:ext cx="256032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9546336" y="4434840"/>
            <a:ext cx="1993392" cy="594360"/>
          </a:xfrm>
          <a:prstGeom prst="roundRect">
            <a:avLst>
              <a:gd name="adj" fmla="val 12308"/>
            </a:avLst>
          </a:prstGeom>
          <a:solidFill>
            <a:srgbClr val="F2A65A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9601200" y="443484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Updated CSV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548640" y="54406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8" name="Text 42"/>
          <p:cNvSpPr/>
          <p:nvPr/>
        </p:nvSpPr>
        <p:spPr>
          <a:xfrm>
            <a:off x="914400" y="54406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roadmap: Claude Desktop integration testing and full production deployment.</a:t>
            </a:r>
            <a:endParaRPr lang="en-US" sz="1250" dirty="0"/>
          </a:p>
        </p:txBody>
      </p:sp>
      <p:sp>
        <p:nvSpPr>
          <p:cNvPr id="49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Datathon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same architecture, hands-on — reproduce the AWO MCP Server from scratch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556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5004" y="21717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161" y="22848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004" y="16219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1792" y="283464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" y="32644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04288" y="2766060"/>
            <a:ext cx="14630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50592" y="1965960"/>
            <a:ext cx="17556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76956" y="21717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113" y="22848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76956" y="16219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523744" y="283464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 Loader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23744" y="32644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206240" y="2766060"/>
            <a:ext cx="14630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352544" y="1965960"/>
            <a:ext cx="17556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78908" y="21717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065" y="2284857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78908" y="16219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425696" y="283464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 Repository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425696" y="32644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108192" y="2766060"/>
            <a:ext cx="14630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254496" y="1965960"/>
            <a:ext cx="17556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80860" y="21717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17" y="2284857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0860" y="16219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6327648" y="283464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MCP Server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327648" y="32644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010144" y="2766060"/>
            <a:ext cx="14630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8156448" y="1965960"/>
            <a:ext cx="175564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782812" y="21717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4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969" y="2284857"/>
            <a:ext cx="276606" cy="27660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782812" y="16219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8229600" y="283464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Inspector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229600" y="32644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912096" y="2766060"/>
            <a:ext cx="14630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10058400" y="1965960"/>
            <a:ext cx="1755648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684764" y="217170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41" name="Image 5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921" y="2284857"/>
            <a:ext cx="276606" cy="27660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684764" y="162191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35"/>
          <p:cNvSpPr/>
          <p:nvPr/>
        </p:nvSpPr>
        <p:spPr>
          <a:xfrm>
            <a:off x="10131552" y="2834640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Challenge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10131552" y="32644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48640" y="3931920"/>
            <a:ext cx="10972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86868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1051560" y="44805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src/data_loader.py + src/data_repository.py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- the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+ README.md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diagram + data findings summary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6172200" y="4160520"/>
            <a:ext cx="0" cy="187452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44652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looks like</a:t>
            </a:r>
            <a:endParaRPr lang="en-US" sz="1400" dirty="0"/>
          </a:p>
        </p:txBody>
      </p:sp>
      <p:sp>
        <p:nvSpPr>
          <p:cNvPr id="50" name="Text 42"/>
          <p:cNvSpPr/>
          <p:nvPr/>
        </p:nvSpPr>
        <p:spPr>
          <a:xfrm>
            <a:off x="6629400" y="44805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Inspector shows all 8 tools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count_facilities("Berlin") returns the correct count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are clean JSON — no NaN values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Datathon submissions are scored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points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challenges completed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integration working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46720" y="3520440"/>
            <a:ext cx="3291840" cy="0"/>
          </a:xfrm>
          <a:prstGeom prst="line">
            <a:avLst/>
          </a:prstGeom>
          <a:noFill/>
          <a:ln w="15875">
            <a:solidFill>
              <a:srgbClr val="3A43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37490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DataRepository and MCP Server together make up 55% of the score </a:t>
            </a:r>
            <a:r>
              <a:rPr lang="en-US" sz="1250" i="1" dirty="0" smtClean="0">
                <a:solidFill>
                  <a:srgbClr val="C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i="1" dirty="0">
                <a:solidFill>
                  <a:srgbClr val="C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have to actually work.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017520" y="530352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challenge reproduces the exact architecture we built: CSV → DataLoader → DataRepository → MCP Server → AI Client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20802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2203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data before designing relationships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29672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icons/ale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3090672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85292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assume schema equals reality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60120" y="38541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" y="3977640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3739896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layers separate and single-purpose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960120" y="47411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" y="4864608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83080" y="4626864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capabilities, not data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luck! 🚀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MCP Server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1873</Words>
  <Application>Microsoft Office PowerPoint</Application>
  <PresentationFormat>Widescreen</PresentationFormat>
  <Paragraphs>432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Hasan Alatrash</cp:lastModifiedBy>
  <cp:revision>8</cp:revision>
  <dcterms:created xsi:type="dcterms:W3CDTF">2026-08-19T09:28:51Z</dcterms:created>
  <dcterms:modified xsi:type="dcterms:W3CDTF">2026-08-19T13:00:12Z</dcterms:modified>
</cp:coreProperties>
</file>